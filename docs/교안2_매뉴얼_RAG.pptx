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5B6B73"/>
                </a:solidFill>
                <a:latin typeface="Malgun Gothic"/>
              </a:rPr>
              <a:t>Part별 조각 수 (1_convert.py 실행 결과)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조각 수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3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01 개괄</c:v>
                  </c:pt>
                  <c:pt idx="1">
                    <c:v>02 수급자격</c:v>
                  </c:pt>
                  <c:pt idx="2">
                    <c:v>03 취업지원서비스</c:v>
                  </c:pt>
                  <c:pt idx="3">
                    <c:v>04 수당 지급</c:v>
                  </c:pt>
                  <c:pt idx="4">
                    <c:v>05 부정수급</c:v>
                  </c:pt>
                  <c:pt idx="5">
                    <c:v>06 조건부수급자</c:v>
                  </c:pt>
                  <c:pt idx="6">
                    <c:v>07 청년 빈일자리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50</c:v>
                </c:pt>
                <c:pt idx="2">
                  <c:v>100</c:v>
                </c:pt>
                <c:pt idx="3">
                  <c:v>42</c:v>
                </c:pt>
                <c:pt idx="4">
                  <c:v>26</c:v>
                </c:pt>
                <c:pt idx="5">
                  <c:v>8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3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F2A3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1교시를 들은 분들 대상입니다. 오늘은 가상 자료가 아니라 실제 업무매뉴얼을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 숙제(매뉴얼을 찾아봤던 질문 3개)를 받아 칠판에 적어 두면, 오늘 실습에서 그대로 써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답변 예시의 금액은 매뉴얼 Part 04 원문(’26년부터 월 60만 원, 가족수당 1인 10만 원·월 최대 40만 원)에서 가져왔습니다. 실제 AI 답의 표현은 매번 조금 다를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회의 녹취에서 뽑은 문장입니다. 참석자의 경험과도 비교해 보세요. 네 번째(센터별 해석)는 AI가 대신할 수 없는 부분이라 '팀장 확인 필요' 표시로 설계했습니다.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실습의 롤플레이도 이 흐름대로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표가 오늘 수업 전체의 지도입니다. 각 행을 하나씩 실습합니다.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30분.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원하면 매뉴얼 복사본의 확장자를 .zip으로 바꿔 직접 열어 보게 하세요. 원본은 건드리지 않습니다. 참고로 .hwp(구버전)는 구조가 달라 이 방법이 통하지 않습니다. 한글에서 '다른 이름으로 저장 → .hwpx'로 바꾸면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1_convert.py를 실제로 실행한 결과입니다. 매뉴얼이 바뀌면 숫자도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매뉴얼의 장·절 제목이 표 안에 들어 있다는 점을 이용해 제목을 찾습니다. 그래서 출처가 'Part 04 &gt; Ⅱ &gt; 2. 지급액'처럼 정확하게 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hwpx 파일이 없다는 메시지가 나오면 파일을 manual_rag 폴더 바로 안에 넣었는지 확인하세요. 하위 폴더에 넣으면 찾지 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표가 '칸 | 칸' 모양으로 바뀐 것을 보여 주세요. 원본 한글 파일을 옆에 띄워 비교하면 더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 속 내용이 꼭 필요하면 다음 단계에서 AI 이미지 인식으로 설명문을 만들어 넣을 수 있습니다(심화 과제).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20분. 오늘 수업에서 가장 중요한 개념입니다.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테스트 결과입니다. 참석자에게 '매뉴얼 용어로 물으면 어떻게 될까?' 하고 물어본 뒤 다음 쪽으로 넘어가세요.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해결 2는 AI를 두 번 부르는 방식입니다. 첫 번째는 검색어 만들기(짧고 저렴), 두 번째는 답변 쓰기. 화면에 '검색어:'로 AI가 바꾼 말을 보여 주므로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검색어는 사람이 매뉴얼 용어로 직접 적어 넣어 시험했습니다. 실제 앱에서는 AI가 검색어를 만들기 때문에 매번 조금씩 다를 수 있습니다. 완벽하지 않다는 점도 솔직하게 이야기해 주세요. 그래서 '참고한 매뉴얼 발췌 보기'로 근거를 확인하는 습관이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40분.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코드를 한 줄씩 읽을 필요는 없습니다. '어느 부분이 어떤 역할인지'만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1교시 '직접 바꿔 보기 ②'처럼, 이 규칙도 팀에 맞게 고칠 수 있습니다. 예: '답변 끝에 구직자에게 안내할 한 문장을 따로 써 주세요.'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manual_chunks.json이 없다는 오류가 나오면 실습 1(1_convert.py)을 먼저 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위치는 매뉴얼 원문과 변환 결과로 확인했습니다. 6번은 일부러 매뉴얼로 답할 수 없는 질문입니다. 도우미가 지어내지 않고 '팀장 확인 필요'를 표시하면 성공입니다.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40분.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매뉴얼 Part 02의 'Ⅰ유형 세부유형별 수급요건' 표를 흐름으로 옮긴 것입니다. 세부 예외(특정계층 등)는 매뉴얼을 확인해야 합니다. 1교시 기획서의 판정 흐름도와 같은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계산을 틀릴 수 있다는 점과, 코드는 항상 같은 답을 낸다는 점을 대비시킵니다. 앱 화면의 '기준 중위소득 대비 가구 소득' 숫자가 이 계산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회의에서 재현한 상담 장면을 바탕으로 만든 가상 사례입니다. 역할을 바꿔 세 번 진행하면 모두가 상담사 역을 해 볼 수 있습니다. 두 번째, 세 번째 판에서는 나이·소득 숫자를 바꿔 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판단 열은 매뉴얼 Part 02 기준으로 강사가 미리 계산한 것입니다. 선발형은 예산 범위에서 점수(별표 3)로 선발하므로 '확정'이 아니라 '검토'라고 표현합니다. 세대 분리 인용문은 Part 02 &gt; Ⅱ 수급자격 조사 &gt; 2. 조사사항 원문입니다.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 20분.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업무에 쓰기 전에는 회사의 개인정보 보호 담당자와 외부 AI 서비스 사용 기준을 확인해야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가격은 2026년 9월 기준 Anthropic 공개 가격입니다. 한국어는 글자 수 대비 토큰 수가 많은 편이라 추정은 넉넉하게 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전년도 매뉴얼과 비교하는 기능(작년 대비 무엇이 바뀌었나)은 다음 단계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KeyError는 새 매뉴얼의 Part 수가 줄었을 때 나타납니다. 이때 PARTS에서 없는 번호를 지우면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센터별 FAQ는 1교시의 '자료 한 개 추가하기'와 같은 방식이라 가장 쉽게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참석자들에게 실제 업무에 쓴다면 어떤 질문에 가장 도움이 될지 한 명씩 이야기하게 하고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669280" cy="5669280"/>
          </a:xfrm>
          <a:prstGeom prst="ellipse">
            <a:avLst/>
          </a:prstGeom>
          <a:solidFill>
            <a:srgbClr val="1B998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566160"/>
            <a:ext cx="3291840" cy="3291840"/>
          </a:xfrm>
          <a:prstGeom prst="ellipse">
            <a:avLst/>
          </a:prstGeom>
          <a:solidFill>
            <a:srgbClr val="F4A259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1234440"/>
            <a:ext cx="1737360" cy="1737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1188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국제커리어 AI 실습 2교시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3736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상담 도우미 만들기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국민취업지원제도 업무매뉴얼 RAG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931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1교시에 만든 hello RAG를 실제 업무매뉴얼(2026.1)에 적용해, 상담 현장에서 쓸 수 있는 도우미를 만듭니다.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C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국제커리어 직원 3명 · 소요 시간: 약 2시간 30분 · 선수 과정: 1교시 hello RAG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복습: RAG = 찾아보고, 보여 주고, 답한다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이 3단계는 똑같습니다. 달라지는 것은 '자료'와 '검색 솜씨'입니다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04517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3389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328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검색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질문과 비슷한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조각 찾기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5400000">
            <a:off x="4077614" y="288950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6916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39816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688" y="2039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93666" y="25328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전달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21098" y="30175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+ 자료 + 질문을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보내기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 rot="5400000">
            <a:off x="7912913" y="288950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691640"/>
            <a:ext cx="3423818" cy="2651760"/>
          </a:xfrm>
          <a:prstGeom prst="roundRect">
            <a:avLst>
              <a:gd name="adj" fmla="val 4138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75114" y="192024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986" y="2039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8965" y="2532888"/>
            <a:ext cx="32043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생성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30175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근거로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답과 출처 쓰기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663440"/>
            <a:ext cx="11094415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검색이 틀리면 AI도 틀린다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지시문 한 줄이 AI의 태도를 바꾼다 (모르면 모른다고)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답은 초안, 판단은 사람이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만들 것: 상담사 전용 매뉴얼 도우미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2개짜리 웹 앱 · 모든 답에 매뉴얼 위치(Part &gt; 장 &gt; 절)가 붙습니다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8006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B8C7C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18488"/>
            <a:ext cx="6912864" cy="347472"/>
          </a:xfrm>
          <a:prstGeom prst="rect">
            <a:avLst/>
          </a:prstGeom>
          <a:solidFill>
            <a:srgbClr val="EEF3F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719072"/>
            <a:ext cx="118872" cy="118872"/>
          </a:xfrm>
          <a:prstGeom prst="ellipse">
            <a:avLst/>
          </a:prstGeom>
          <a:solidFill>
            <a:srgbClr val="E06C5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19072"/>
            <a:ext cx="118872" cy="118872"/>
          </a:xfrm>
          <a:prstGeom prst="ellipse">
            <a:avLst/>
          </a:prstGeom>
          <a:solidFill>
            <a:srgbClr val="F2B84B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1719072"/>
            <a:ext cx="118872" cy="118872"/>
          </a:xfrm>
          <a:prstGeom prst="ellipse">
            <a:avLst/>
          </a:prstGeom>
          <a:solidFill>
            <a:srgbClr val="5DBB63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673352"/>
            <a:ext cx="29260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72768" y="16733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localhost:8501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148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📘 국민취업지원제도 매뉴얼 상담 도우미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매뉴얼 Q&amp;A     ✅ 수급자격 판정 가이드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063240"/>
            <a:ext cx="6400800" cy="411480"/>
          </a:xfrm>
          <a:prstGeom prst="roundRect">
            <a:avLst>
              <a:gd name="adj" fmla="val 13333"/>
            </a:avLst>
          </a:prstGeom>
          <a:solidFill>
            <a:srgbClr val="F3F6F6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30632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구직촉진수당은 한 달에 얼마인가요?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검색어: 구직촉진수당 지급액 기본수당 추가수당 가족수당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931920"/>
            <a:ext cx="6400800" cy="1828800"/>
          </a:xfrm>
          <a:prstGeom prst="roundRect">
            <a:avLst>
              <a:gd name="adj" fmla="val 3000"/>
            </a:avLst>
          </a:prstGeom>
          <a:solidFill>
            <a:srgbClr val="F7FAFA"/>
          </a:solidFill>
          <a:ln w="12700">
            <a:solidFill>
              <a:srgbClr val="D5E3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06908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(답변 예시) 2026년부터 기본수당은 월 60만 원입니다. 부양가족이 있으면 1인당 10만 원, 월 최대 40만 원의 가족수당이 더해집니다.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(출처: Part 04 수당 지급 &gt; Ⅱ 구직촉진수당 &gt; 2. 지급액)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852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📖 AI가 참고한 매뉴얼 발췌 보기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600200"/>
            <a:ext cx="3685032" cy="2286000"/>
          </a:xfrm>
          <a:prstGeom prst="roundRect">
            <a:avLst>
              <a:gd name="adj" fmla="val 48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185623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6036" y="1980956"/>
            <a:ext cx="317480" cy="31748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8942832" y="185623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Q&amp;A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211312" y="2560320"/>
            <a:ext cx="3172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말투로 물어도 매뉴얼 용어로 바꿔 찾고, 결론과 근거 위치를 알려 줍니다.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955280" y="4114800"/>
            <a:ext cx="3685032" cy="2286000"/>
          </a:xfrm>
          <a:prstGeom prst="roundRect">
            <a:avLst>
              <a:gd name="adj" fmla="val 48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11312" y="437083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6036" y="4495556"/>
            <a:ext cx="317480" cy="31748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942832" y="4370832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가이드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8211312" y="5074920"/>
            <a:ext cx="317296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구직자에게 들은 답을 넣으면 예상 유형과 다음에 물어볼 질문을 알려 줍니다.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만드나요? 상담 현장에서 들은 이야기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회의(2026-09-29)에서 나온 현장의 목소리입니다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874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"1~2년 된 분들도 이걸 많이 참고하세요. 매년 바뀌는 부분들도 많고..."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매뉴얼은 매년 바뀌고 분량이 많다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45352" y="1645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68312" y="1874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"참여자가 수당을 받을 수 있는 요건이 되냐 안 되냐를 가장 많이 물어보세요."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068312" y="3063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가장 많은 질문은 수급자격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519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2062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"신입은 어떤 질문을 해야 될지도 모르는 거 아니에요."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5394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다음에 물어볼 질문이 필요하다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DF0E3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2519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068312" y="420624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"그건 고용센터별로 또 다 달라요. 팀장이 문의를 직접 하시고..."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068312" y="5394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센터별 해석은 팀장 확인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흐름 속에서 도우미는 어디에 있나요?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구직자는 화면을 보지 않습니다. 상담사가 옆에 켜 두고 확인용으로 씁니다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89699" cy="292608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58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330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 질문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"저 수당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받을 수 있어요?"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rot="5400000">
            <a:off x="2543495" y="302666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691640"/>
            <a:ext cx="1889699" cy="292608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637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039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9547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확인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86979" y="301752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나이, 가구 소득,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재산, 취업 경험을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묻는다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44674" y="302666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691640"/>
            <a:ext cx="1889699" cy="2926080"/>
          </a:xfrm>
          <a:prstGeom prst="roundRect">
            <a:avLst>
              <a:gd name="adj" fmla="val 5807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39816" y="192024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2039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60726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 조회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288158" y="301752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가이드에 입력,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근거 확인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45853" y="302666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691640"/>
            <a:ext cx="1889699" cy="292608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40995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867" y="20391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61905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안내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589337" y="301752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확인하고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구직자에게 설명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447032" y="302666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691640"/>
            <a:ext cx="1889699" cy="292608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442174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046" y="203911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63084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애매하면 팀장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890516" y="3017520"/>
            <a:ext cx="161537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표시가 뜨면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팀장에게 확인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DF0E3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0352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325880" y="512064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도우미는 '두 번째 매뉴얼'입니다. 판단을 대신하지 않고, 찾는 시간을 줄여 줍니다.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1교시와 무엇이 달라지나요?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구조는 같고, 실제 업무에 맞게 네 군데를 바꿨습니다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834640"/>
                <a:gridCol w="3776472"/>
                <a:gridCol w="32004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 hello RAG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 매뉴얼 RAG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바꿨나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가상 안내서 txt 6개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업무매뉴얼 .hwpx 1개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업무 자료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빈 줄로 자름 (44개)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 제목 기준으로 자름 (244개)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출처를 정확히 대려고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이름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&gt; 장 &gt; 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매뉴얼에서 바로 찾아가려고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그대로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매뉴얼 용어로 바꿔서 검색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구어체 질문도 찾으려고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모르면 모른다고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결론 먼저, ⚠ 팀장 확인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규칙 반영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Q&amp;A 탭 + 판정 가이드 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수급자격 질문이 가장 많아서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매뉴얼을 AI가 읽게 만들기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파일(.hwpx)을 PDF로 바꾸지 않고 바로 조각으로 만듭니다.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.hwpx 파일의 정체: 압축 파일입니다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확장자를 .zip으로 바꾸면 안에 글(XML)과 그림(이미지)이 따로 들어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480560"/>
          </a:xfrm>
          <a:prstGeom prst="roundRect">
            <a:avLst>
              <a:gd name="adj" fmla="val 2041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6217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국민취업지원제도업무매뉴얼(2026.1).hwpx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Contents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section0.xml    ← 표지와 목차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section1.xml    ← Part 01 개괄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section2.xml    ← Part 02 수급자격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...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section7.xml    ← Part 07 청년 빈일자리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BinData             ← 그림 파일 300여 개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image1.jpg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...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Preview             ← 미리보기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645920"/>
            <a:ext cx="4187952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0839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3116" y="2026676"/>
            <a:ext cx="317480" cy="317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39912" y="190195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글은 XML로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08392" y="2606040"/>
            <a:ext cx="3675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본문과 표의 글자는 section 파일에 들어 있어 프로그램으로 꺼낼 수 있습니다.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52360" y="3977640"/>
            <a:ext cx="4187952" cy="2148840"/>
          </a:xfrm>
          <a:prstGeom prst="roundRect">
            <a:avLst>
              <a:gd name="adj" fmla="val 510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08392" y="42336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116" y="4358396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39912" y="423367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못 읽음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708392" y="493776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흐름도 같은 그림 속 글자는 오늘 방식으로는 읽지 못합니다. (한계로 기억)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매뉴얼은 7개 Part, 244개 조각이 됩니다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취업지원서비스와 Part 02 수급자격이 전체의 60%를 차지합니다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00200"/>
            <a:ext cx="3456432" cy="4572000"/>
          </a:xfrm>
          <a:prstGeom prst="roundRect">
            <a:avLst>
              <a:gd name="adj" fmla="val 3175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39912" y="185623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4636" y="1980956"/>
            <a:ext cx="317480" cy="3174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39912" y="258775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상담에 자주 쓰는 곳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439912" y="3090672"/>
            <a:ext cx="2944368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수급자격 질문 → Part 02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수당 금액·지급 → Part 04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중 관리 → Part 03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하나는 최대 800자 정도의 한 단락입니다.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1_convert.py가 하는 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문단은 한 줄로, 표는 한 행씩, 제목은 '출처 주소'로 바꿉니다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5105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977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문단 → 한 줄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문장을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꺼냄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rot="5400000">
            <a:off x="3118790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1579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451" y="2039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4842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→ 칸 | 칸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2274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표의 한 행을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'칸 | 칸 | 칸'으로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(중위소득표 등)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95264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78053" y="192024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25" y="2039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11316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→ 출처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38748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'Ⅰ | 수급자격 요건'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제목을 찾아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주소로 기억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71737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54526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398" y="20391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7789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800자씩 묶기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315221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제목이 바뀌거나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800자가 넘으면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 하나 완성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48640" y="475488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1E2A30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4864608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만들어진 조각 하나 (manual_chunks.json)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777240" y="5166360"/>
            <a:ext cx="106372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{"source": "Part 04 수당 지급 &gt; Ⅱ 구직촉진수당 &gt; 2. 지급액",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"text": "1. 기본수당: ’26년부터 월 60만원(’25년까지 월 50만원) ..."}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1: 폴더 준비하고 변환하기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나눠 준 manual_rag 폴더에 매뉴얼 파일을 복사해 넣습니다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1737360"/>
          </a:xfrm>
          <a:prstGeom prst="roundRect">
            <a:avLst>
              <a:gd name="adj" fmla="val 5263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manual_rag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국민취업지원제도업무매뉴얼(2026.1) (20251230 기준).hwpx  ← 복사해 넣기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1_convert.py        ← 실습 1: 매뉴얼 → 조각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2_app.py            ← 실습 2·3: 상담 도우미 앱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requirements.txt    ← 1교시와 같은 도구 3개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5935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manual_rag 폴더 주소창에 cmd 입력 → 엔터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99592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1교시와 같은 방법입니다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480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46227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 install -r requirements.txt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8646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1교시에 설치했다면 'already satisfied'가 나오고 바로 끝납니다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349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3309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1_convert.py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573328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10초 정도 걸립니다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76672" cy="2697480"/>
          </a:xfrm>
          <a:prstGeom prst="roundRect">
            <a:avLst>
              <a:gd name="adj" fmla="val 3390"/>
            </a:avLst>
          </a:prstGeom>
          <a:solidFill>
            <a:srgbClr val="1E2A3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372160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 (실제 실행 결과)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4023360"/>
            <a:ext cx="491947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D2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python 1_convert.py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변환 완료: 조각 244개 → manual_chunks.json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01 국민취업지원제도 개괄: 6개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02 수급자격: 50개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03 취업지원서비스: 100개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04 수당 지급: 42개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05 부정수급 업무처리: 26개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06 조건부수급자 운영지침: 8개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 07 청년 빈일자리 특화 취업지원프로그램: 12개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미션 1: 조각을 직접 열어 보기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manual_chunks.json을 메모장으로 열고 Ctrl + F로 찾아보세요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6949440"/>
                <a:gridCol w="13075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찾을 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조각(source)에 있나요?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60만원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04 수당 지급 &gt; Ⅱ 구직촉진수당 &gt; 2. 지급액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2,564,238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02 수급자격 &gt; Ⅰ 수급자격 요건 &gt; 1. 공통 요건 (1인 가구 중위소득)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100일 또는 800시간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02 수급자격 &gt; Ⅰ 수급자격 요건 &gt; 2. Ⅰ유형 요건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(자유) 내가 자주 찾는 말: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DF0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721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212080"/>
            <a:ext cx="10134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조각이 매뉴얼 원문과 같은지 눈으로 확인하는 것이 중요합니다. 변환이 틀리면 AI 답도 틀립니다.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 둘 한계 3가지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도우미가 답을 못 하거나 틀릴 수 있는 이유를 미리 알아 둡니다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속 글자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82112"/>
            <a:ext cx="300837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흐름도처럼 그림으로 된 내용은 조각에 들어가지 않습니다.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34256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0288" y="19476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5012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0288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 번호 없음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3182112"/>
            <a:ext cx="300837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한글 파일 안에는 쪽 번호 정보가 없어서, 출처는 'Part &gt; 장 &gt; 절'로만 표시합니다.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19872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628" y="207239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75904" y="2679192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센터별 해석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75904" y="3182112"/>
            <a:ext cx="300837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매뉴얼에 없는 고용센터별 운영 방식은 알 수 없습니다. 그래서 '⚠ 팀장 확인 필요'를 둡니다.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검색을 똑똑하게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상담사의 말투와 매뉴얼의 말투가 다를 때 생기는 문제를 풉니다.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"한 달에 얼마야?"로는 '지급액'을 못 찾습니다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1교시의 '겹치는 글자 세기' 검색은 뜻이 아니라 글자를 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상담사의 말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5176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"구직촉진수당은 한 달에 얼마야?"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달', '얼마' 같은 일상어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매뉴얼의 말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51760"/>
            <a:ext cx="4882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"Ⅱ 구직촉진수당 &gt; 2. 지급액"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'지급액', '기본수당' 같은 행정 용어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FBEAE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7091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297680"/>
            <a:ext cx="10134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검색해 보니 정답 조각(2. 지급액)이 상위 6개 안에 들지 못했습니다. 겹치는 글자가 '구직촉진수당'뿐이라, 이 말이 들어간 조각 77개와 구별이 안 되기 때문입니다.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제목에 힘 싣기 + AI에게 '매뉴얼 말로 번역' 시키기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가지를 함께 써서 정답 조각을 찾아냅니다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1 · 제목을 3번 넣기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51760"/>
            <a:ext cx="488289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색인을 만들 때 조각의 출처 주소(제목)를 본문 앞에 3번 붙입니다.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그러면 '지급액', '지급대상' 같은 제목 단어가 점수에 더 크게 반영됩니다.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(2_app.py의 ① 부분, 코드 한 줄)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2 · 질문을 매뉴얼 말로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51760"/>
            <a:ext cx="488289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검색하기 전에 AI에게 먼저 부탁합니다.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질문을 매뉴얼에서 찾기 좋은 용어로 바꿔 줘"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달에 얼마야?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구직촉진수당 지급액 기본수당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질문과 바꾼 검색어를 합쳐서 검색합니다.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정답 조각이 검색 결과 안으로 들어왔습니다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가중치를 적용한 상태에서, 질문을 매뉴얼 용어로 바꾸기 전과 후를 비교했습니다 (정답 조각의 순위)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325112"/>
                <a:gridCol w="1463040"/>
                <a:gridCol w="14630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상담사 질문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정답 조각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그대로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 용어 추가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구직촉진수당은 한 달에 얼마야?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04 &gt; Ⅱ 구직촉진수당 &gt; 2. 지급액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취업성공수당은 얼마 받아?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04 &gt; Ⅳ 취업성공수당 &gt; 2. 지급액 및 지급기간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부모님과 같이 살면 가구 소득은?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02 &gt; Ⅱ 수급자격 조사 &gt; 2. 조사사항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대학생 졸업예정자는 언제부터 참여 가능해?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02 &gt; Ⅰ 수급자격 요건 &gt; 1. 공통 요건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068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25780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'-'는 따로 측정하지 않은 칸입니다. 매뉴얼 용어가 이미 들어 있는 질문(졸업예정자)은 그대로도 잘 찾습니다. 앱은 상위 6개 조각을 AI에게 보냅니다.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도우미 앱 실행하기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Q&amp;A 탭으로 현장 질문을 해 봅니다.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 한눈에 보기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앱과 같은 뼈대 위에 '검색어 바꾸기'와 '판정 가이드'를 얹었습니다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863840" cy="4572000"/>
          </a:xfrm>
          <a:prstGeom prst="roundRect">
            <a:avLst>
              <a:gd name="adj" fmla="val 2000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099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 (핵심만 발췌)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7406640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① 매뉴얼 조각 읽기 + 색인 (제목은 3번 넣어 더 중요하게)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(c["source"] + "\n") * 3 + c["text"]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검색하기: 비슷한 조각 6개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search(query, k=6):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Claude 호출 (같은 질문은 저장해 둔 답을 다시 써서 비용 절약)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call_claude(api_key, system, user_text): ...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④ 화면: 탭 2개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💬 매뉴얼 Q&amp;A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 = call_claude(키, REWRITE_PROMPT, 질문)   # 매뉴얼 말로 번역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= search(질문 + " " + keywords)              # 검색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call_claude(키, ANSWER_PROMPT, 발췌 + 질문) # 답변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✅ 수급자격 판정 가이드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가구소득 / 중위소득표[가구원수] * 100       # 코드로 계산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41080" y="1600200"/>
            <a:ext cx="2999232" cy="219456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97112" y="182880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두 번 부름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897112" y="2359152"/>
            <a:ext cx="24871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검색어 만들기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답변 쓰기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41080" y="3977640"/>
            <a:ext cx="2999232" cy="2194560"/>
          </a:xfrm>
          <a:prstGeom prst="roundRect">
            <a:avLst>
              <a:gd name="adj" fmla="val 50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97112" y="4206240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계산은 코드가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4736592"/>
            <a:ext cx="248716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중위소득 비율처럼 틀리면 안 되는 숫자는 AI에게 맡기지 않습니다.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규칙(지시문)에 현장 규칙을 넣었습니다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ANSWER_PROMPT: AI가 모든 답에서 지키는 규칙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266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0195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문장에 결론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0604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중에 바로 쓸 수 있도록 결론부터 말합니다.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5352" y="164592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2667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0195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위치 표시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0604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(출처: Part … &gt; …) 형식으로 매뉴얼 위치를 적습니다.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" y="435839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36192" y="4233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팀장 확인 필요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493776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없거나 센터마다 해석이 다를 수 있으면 추측하지 않고 표시합니다.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45352" y="3977640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1384" y="423367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108" y="435839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2904" y="4233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말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501384" y="4937760"/>
            <a:ext cx="4882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상담사가 구직자에게 그대로 설명할 수 있게 씁니다.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실행해 보기: streamlit run 2_app.py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manual_rag 폴더의 명령 프롬프트에서 실행합니다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651760"/>
          </a:xfrm>
          <a:prstGeom prst="roundRect">
            <a:avLst>
              <a:gd name="adj" fmla="val 3448"/>
            </a:avLst>
          </a:prstGeom>
          <a:solidFill>
            <a:srgbClr val="1E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5564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8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프롬프트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5212080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D2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streamlit run 2_app.py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 URL: http://localhost:8501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1교시 앱이 켜져 있으면 먼저 Ctrl + C 로 끄세요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(같은 주소를 쓰면 8502로 열립니다)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29400" y="17373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2940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171907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칸에 API 키 붙여넣기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2121408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키를 넣기 전에는 화면이 멈춰 있습니다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29400" y="28346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81635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'매뉴얼 Q&amp;A' 탭에서 질문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218688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'검색어:'에 AI가 바꾼 말이 먼저 보입니다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29400" y="393192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2940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913632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답과 '참고한 매뉴얼 발췌'를 비교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315968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위치가 발췌 목록에 있는지 확인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BEAE6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1206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493776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칸 아래에 있는 안내를 꼭 지켜 주세요: 구직자의 이름, 주민등록번호, 연락처는 입력하지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미션 2: 현장 질문으로 도우미 채점하기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맞는지, 출처 위치가 맞는지, ⚠ 표시가 적절한지 확인합니다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160520"/>
                <a:gridCol w="4782312"/>
                <a:gridCol w="576072"/>
                <a:gridCol w="576072"/>
                <a:gridCol w="585216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상담사 질문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매뉴얼에서 확인할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구직촉진수당은 한 달에 얼마인가요?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04 &gt; Ⅱ &gt; 2. 지급액 (’26년 월 60만 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대학생 8월 졸업예정자는 언제부터 참여할 수 있나요?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02 &gt; Ⅰ &gt; 1. 공통 요건 (같은 해 1월 1일)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1유형 요건심사형의 취업 경험 기준은?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02 &gt; Ⅰ &gt; 2. Ⅰ유형 요건 (2년 내 100일/800시간)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취업성공수당은 얼마를 어떻게 받나요?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04 &gt; Ⅳ 취업성공수당 &gt; 2. 지급액 및 지급기간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훈련참여지원수당은 올해도 받을 수 있나요?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04 &gt; Ⅲ &gt; 2. 훈련참여지원수당(’26년 폐지)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 지역 센터는 사업소득을 어떻게 인정하나요?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매뉴얼만으로 답 불가 → ⚠ 팀장 확인 필요가 정답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94415" cy="640080"/>
          </a:xfrm>
          <a:prstGeom prst="roundRect">
            <a:avLst>
              <a:gd name="adj" fmla="val 14286"/>
            </a:avLst>
          </a:prstGeom>
          <a:solidFill>
            <a:srgbClr val="FDF0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8064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760720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숙제로 가져온 '내가 찾아봤던 질문'도 넣어 보세요.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수급자격 판정 가이드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많이 받는 질문, "저 수당 받을 수 있어요?"를 롤플레이로 연습합니다.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매뉴얼의 판정 흐름: 질문 4개로 유형이 갈립니다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 수급자격 기준 (2026) · 가이드 탭의 입력 칸이 이 질문들입니다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9164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공통 요건을 충족하나?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5740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미취업·근로능력·구직의사, 15~69세, 구직급여 미수급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0" y="1691640"/>
            <a:ext cx="5056632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48272" y="17830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불가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5400000">
            <a:off x="6053328" y="1920240"/>
            <a:ext cx="182880" cy="219456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5778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0800000">
            <a:off x="2880360" y="2560320"/>
            <a:ext cx="182880" cy="219456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54680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92608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가구소득 중위 60% 이하, 재산 4억 이하?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" y="329184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부모와 같은 주민등록표면 부모 소득도 합산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2834640"/>
            <a:ext cx="5056632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48272" y="292608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청년 특례? (15~34세 + 병역 최대 3년)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48272" y="3291840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중위소득 120% 이하, 재산 5억 이하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053328" y="3154680"/>
            <a:ext cx="182880" cy="219456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577840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2880360" y="3794760"/>
            <a:ext cx="182880" cy="219456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154680" y="3749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69080"/>
            <a:ext cx="48463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16052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최근 2년 취업 100일(800시간) 이상?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526280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신청일 이전 2년 이내 통산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1B998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394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1유형 요건심사형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760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요건만 맞으면 구직촉진수당 의무 지급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297680" y="53492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80560" y="5394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1유형 선발형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480560" y="5760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범위에서 점수로 선발 (비경활·청년특례)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46720" y="534924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0" y="5394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2유형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5760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취업지원서비스 중심, 취업활동비용 지원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9319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예 → 1유형 요건심사형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아니요 → 1유형 선발형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예 → 1유형 선발형 (청년특례)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아니요 → 2유형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중위소득 비율은 AI가 아니라 코드가 계산할까?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말은 잘하지만, 숫자 계산은 가끔 틀립니다. 틀리면 안 되는 숫자는 코드로!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679192"/>
                <a:gridCol w="1188720"/>
                <a:gridCol w="1188720"/>
                <a:gridCol w="1188720"/>
                <a:gridCol w="1188720"/>
                <a:gridCol w="1188720"/>
                <a:gridCol w="1188720"/>
                <a:gridCol w="1280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가구원 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기준 중위소득 (원)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2,564,238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4,199,292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5,359,036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6,494,738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7,556,719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8,555,952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9,515,150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28346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매뉴얼 Part 02 수급자격 &gt; Ⅰ 수급자격 요건 &gt; 1. 공통 요건 (2026년 기준 중위소득 표)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337560"/>
            <a:ext cx="6949440" cy="2651760"/>
          </a:xfrm>
          <a:prstGeom prst="roundRect">
            <a:avLst>
              <a:gd name="adj" fmla="val 3448"/>
            </a:avLst>
          </a:prstGeom>
          <a:solidFill>
            <a:srgbClr val="1E2A3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3502152"/>
            <a:ext cx="6492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2_app.py 안에 표를 그대로 옮겨 적어 둠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MEDIAN_INCOME_2026 = {1: 2564238, 2: 4199292, 3: 5359036, ...}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FB8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예) 1인 가구, 월소득 150만 원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8F1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1500000 / 2564238 * 100   # = 58%  → 60% 이하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26680" y="3337560"/>
            <a:ext cx="3913632" cy="2651760"/>
          </a:xfrm>
          <a:prstGeom prst="roundRect">
            <a:avLst>
              <a:gd name="adj" fmla="val 3448"/>
            </a:avLst>
          </a:prstGeom>
          <a:solidFill>
            <a:srgbClr val="FDF0E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4805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503920" y="3429000"/>
            <a:ext cx="295351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새 기준 중위소득이 고시되면 이 표 한 줄만 새 매뉴얼 값으로 바꾸면 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미션 3: 롤플레이 "저 60만 원 받을 수 있어요?"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3명이 역할을 나눕니다 · 구직자 역 1명, 상담사 역 1명, 관찰·채점 1명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266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0195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 역할 카드 (구직자만 봅니다)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06040"/>
            <a:ext cx="497433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28세 남성, 육군 18개월 복무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졸업 후 1년째 구직 중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부모님과 같은 주민등록표 (3인 가구)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 월소득 약 450만 원 (아버지 근로소득)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 재산 약 3억 원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2년 편의점 아르바이트 약 60일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구직급여는 받은 적 없음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상담사가 묻는 것에만 답하세요.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5508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949440" y="171907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상담사: 판정 가이드에 필요한 것을 질문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949440" y="2121408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 → 병역 → 가구원 → 소득 → 재산 → 취업 일수 순서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55080" y="283464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55080" y="2834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949440" y="281635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상담사: 들은 답을 가이드 탭에 입력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3218688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 메모에 '부모님과 같은 등본'도 적기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393192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550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91363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'판정 가이드 보기' → 결과를 구직자에게 설명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949440" y="4315968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위치를 함께 말해 보기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355080" y="5029200"/>
            <a:ext cx="420624" cy="420624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5508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49440" y="5010912"/>
            <a:ext cx="4690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관찰자: 다음 쪽 채점표로 확인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5413248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빠뜨린 질문은 없었나요?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롤플레이 채점표: 매뉴얼 기준으로 확인하기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 답과 아래 기준을 비교합니다 (계산: 450만 원 ÷ 3인 가구 중위소득 5,359,036원)</a:t>
            </a:r>
            <a:endParaRPr lang="en-US" sz="15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931920"/>
                <a:gridCol w="24048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구직자 사례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28세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청년 15~34세 (+병역 최대 3년)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청년 해당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가구 소득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3인 가구 450만 원 = 약 84%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요건심사형 60% 이하 / 청년특례 120% 이하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요건심사형 X, 청년특례 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3억 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청년 5억 원 이하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취업 경험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최근 2년 약 60일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요건심사형은 100일(800시간) 이상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미충족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유형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1유형 선발형(청년특례) 검토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212080"/>
            <a:ext cx="11094415" cy="1234440"/>
          </a:xfrm>
          <a:prstGeom prst="roundRect">
            <a:avLst>
              <a:gd name="adj" fmla="val 7407"/>
            </a:avLst>
          </a:prstGeom>
          <a:solidFill>
            <a:srgbClr val="FDF0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464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303520"/>
            <a:ext cx="101342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토론: 회의에서 나온 '세대 분리' 안내를 도우미 Q&amp;A 탭에 물어보세요. 매뉴얼은 가구원을 '주민등록표의 본인·배우자·1촌 직계혈족'으로 보되, 포함·제외 신청이 있으면 '실질적인 생계·거주 상황을 확인하고 담당자가 확정'한다고 적고 있습니다. 단정하지 말고 팀장과 확인할 사항입니다.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4A2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063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쓰기 전에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개인정보, 판단 책임, 비용, 매년 개정까지 챙깁니다.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지킬 원칙 2가지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도우미에 입력한 내용은 인터넷을 거쳐 AI 회사(Anthropic)로 전송됩니다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BEAE6"/>
          </a:solidFill>
          <a:ln w="12700">
            <a:solidFill>
              <a:srgbClr val="FB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C855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7239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55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개인정보는 넣지 않는다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651760"/>
            <a:ext cx="48828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이름, 주민등록번호, 연락처, 주소, 계좌번호는 입력 금지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나이·소득·일수처럼 사람을 알아볼 수 없는 숫자만 입력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 칸에도 실명을 적지 않기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5352" y="1691640"/>
            <a:ext cx="5394960" cy="4343400"/>
          </a:xfrm>
          <a:prstGeom prst="roundRect">
            <a:avLst>
              <a:gd name="adj" fmla="val 2526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01384" y="194767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6108" y="207239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2904" y="1947672"/>
            <a:ext cx="4096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상담사가 한다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01384" y="2651760"/>
            <a:ext cx="488289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도우미의 답은 '매뉴얼을 찾아 준 초안'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위치를 열어 원문과 확인한 뒤 안내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표시, 센터별 해석, 애매한 사례는 팀장에게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감각 익히기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쓴 만큼 돈이 듭니다. 대략적인 크기를 알고 쓰면 안심이 됩니다</a:t>
            </a:r>
            <a:endParaRPr lang="en-US" sz="15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모델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 Opus 5.5 · 입력 100만 토큰당 4달러, 출력 100만 토큰당 20달러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1건에 보내는 양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지시문 + 매뉴얼 발췌 6개 (약 5천 자) + 질문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1건 비용 (추정)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대략 수십 원 수준 (검색어 만들기 + 답변, 두 번 호출)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아끼는 장치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질문은 저장해 둔 답을 다시 씀 · 짧게 생각하기(effort: low)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곳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console.anthropic.com → Usage 에서 실제 사용량과 비용 확인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6F4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6072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5577840"/>
            <a:ext cx="1013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추정치는 글자 수로 어림한 값입니다. 실제 비용은 답변 길이에 따라 달라지니, 첫 주에는 Usage 화면으로 꼭 확인하세요. 월 사용 한도를 설정해 두면 안전합니다.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내년에 새 매뉴얼이 나오면?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파일만 바꾸고 변환을 다시 돌리면 됩니다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58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6330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.hwpx 받기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2027.1 매뉴얼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 rot="5400000">
            <a:off x="2543495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2849819" y="169164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38637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039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9547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폴더의 파일 교체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986979" y="301752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manual_rag 폴더에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파일 1개만 두기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44674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5150998" y="169164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39816" y="192024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2039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60726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 다시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288158" y="301752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1_convert.py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45853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Shape 17"/>
          <p:cNvSpPr/>
          <p:nvPr/>
        </p:nvSpPr>
        <p:spPr>
          <a:xfrm>
            <a:off x="7452177" y="169164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140995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9867" y="20391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61905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중위소득표 수정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589337" y="301752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MEDIAN_INCOME 값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447032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8" name="Shape 22"/>
          <p:cNvSpPr/>
          <p:nvPr/>
        </p:nvSpPr>
        <p:spPr>
          <a:xfrm>
            <a:off x="9753356" y="1691640"/>
            <a:ext cx="1889699" cy="2743200"/>
          </a:xfrm>
          <a:prstGeom prst="roundRect">
            <a:avLst>
              <a:gd name="adj" fmla="val 5807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442174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046" y="2039112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63084" y="253288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재시작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890516" y="3017520"/>
            <a:ext cx="161537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run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2_app.py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21208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325880" y="4937760"/>
            <a:ext cx="10134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구성(section1~7)이 바뀌면 1_convert.py 맨 위의 PARTS 이름표도 새 목차에 맞게 고쳐야 합니다. 변환 결과의 Part별 조각 수가 0개로 나오면 이 부분을 확인하세요.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만나는 오류와 해결 방법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오류표에 더해, 매뉴얼 실습에서 나오는 것들입니다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383280"/>
                <a:gridCol w="36850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 나온 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폴더에 .hwpx 파일이 없습니다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매뉴얼을 다른 폴더에 넣음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manual_rag 폴더 바로 안에 복사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manual_chunks.json 이 없습니다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1_convert.py를 아직 안 돌림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1_convert.py 먼저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KeyError: 'Contents/section8.xml' 같은 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매뉴얼 구성이 바뀜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PARTS 이름표를 새 목차에 맞게 수정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BadZipFile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.hwp(구버전) 파일이거나 파일이 손상됨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한글에서 .hwpx로 다시 저장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'⚠ 팀장 확인 필요'가 너무 자주 나옴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검색이 정답 조각을 못 찾음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'참고한 발췌'를 보고 질문을 매뉴얼 용어로 바꿔 다시 질문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화면이 멈춘 채 아무것도 안 나옴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키를 넣지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왼쪽 칸에 키 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도우미를 더 키우려면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회의에서 나온 아이디어를 순서대로 붙여 나갈 수 있습니다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20266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33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전년도 비교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136392"/>
            <a:ext cx="213969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 매뉴얼도 조각으로 만들어 '올해 달라진 점'을 답하게 하기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4992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21024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748" y="202667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21024" y="2633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센터별 FAQ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21024" y="3136392"/>
            <a:ext cx="213969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팀장이 확인한 답을 txt로 쌓아 두고 함께 검색하기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81344" y="16459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E6F4F1"/>
          </a:solidFill>
          <a:ln w="12700">
            <a:solidFill>
              <a:srgbClr val="E6F4F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37376" y="19019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00" y="202667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7376" y="2633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음성으로 질문 추천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3136392"/>
            <a:ext cx="2139696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대화를 음성 인식해 다음에 물어볼 질문을 실시간으로 띄우기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997696" y="1645920"/>
            <a:ext cx="2642616" cy="4480560"/>
          </a:xfrm>
          <a:prstGeom prst="roundRect">
            <a:avLst>
              <a:gd name="adj" fmla="val 415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53728" y="1901952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452" y="202667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53728" y="2633472"/>
            <a:ext cx="2130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롤플레이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253728" y="3136392"/>
            <a:ext cx="2130552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구직자 역할을 맡아 신입 상담사가 혼자 연습하기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매뉴얼로 RAG를 만들 때의 핵심 4가지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25105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977" y="20391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8368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준비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.hwpx를 조각으로,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출처는 Part &gt; 장 &gt; 절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rot="5400000">
            <a:off x="3118790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01579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451" y="20391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4842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똑똑한 검색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62274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제목에 힘 싣기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말로 번역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 rot="5400000">
            <a:off x="5995264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FDF0E3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78053" y="1920240"/>
            <a:ext cx="512064" cy="512064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925" y="203911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11316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규칙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38748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먼저, 출처,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팀장 확인 필요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71737" y="2935224"/>
            <a:ext cx="201168" cy="256032"/>
          </a:xfrm>
          <a:prstGeom prst="triangle">
            <a:avLst/>
          </a:prstGeom>
          <a:solidFill>
            <a:srgbClr val="1B998B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691640"/>
            <a:ext cx="2464994" cy="2743200"/>
          </a:xfrm>
          <a:prstGeom prst="roundRect">
            <a:avLst>
              <a:gd name="adj" fmla="val 4451"/>
            </a:avLst>
          </a:prstGeom>
          <a:solidFill>
            <a:srgbClr val="E6F4F1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54526" y="1920240"/>
            <a:ext cx="512064" cy="512064"/>
          </a:xfrm>
          <a:prstGeom prst="ellipse">
            <a:avLst/>
          </a:prstGeom>
          <a:solidFill>
            <a:srgbClr val="1B998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398" y="203911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87789" y="2532888"/>
            <a:ext cx="22455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코드로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315221" y="3017520"/>
            <a:ext cx="219067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중위소득 비율은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계산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48640" y="484632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DF0E3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1208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4937760"/>
            <a:ext cx="10134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도우미는 매뉴얼을 대신하지 않습니다. 매뉴얼을 더 빨리, 더 정확하게 찾게 도와줄 뿐입니다. 판단과 라포 형성은 여전히 상담사의 몫입니다.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8AE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매뉴얼 RAG 실습 교안</dc:title>
  <dc:subject>PptxGenJS Presentation</dc:subject>
  <dc:creator>국제커리어</dc:creator>
  <cp:lastModifiedBy>국제커리어</cp:lastModifiedBy>
  <cp:revision>1</cp:revision>
  <dcterms:created xsi:type="dcterms:W3CDTF">2026-09-30T15:35:58Z</dcterms:created>
  <dcterms:modified xsi:type="dcterms:W3CDTF">2026-09-30T15:35:58Z</dcterms:modified>
</cp:coreProperties>
</file>