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오늘의 결과물부터 보여 주세요. 코딩 수업이 아니라 'AI가 우리 자료를 보고 답하게 만드는 원리'를 몸으로 익히는 시간이라고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왼쪽은 오늘 완성할 앱의 모습입니다. 오른쪽 세 단계가 바로 RAG입니다. 지금은 '이런 걸 만드는구나' 정도로만 보고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시간은 대략적인 기준입니다. 설치에서 시간이 가장 많이 걸리니, 가능하면 수업 전에 Python 설치를 미리 해 두도록 안내해도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약 20분간 개념 설명입니다.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예시는 일부러 만든 것입니다. 핵심은 AI가 우리 회사 규정을 모르면 '그럴듯한 일반론'으로 채운다는 점입니다. 참석자에게 AI를 써 보다가 틀린 답을 받은 경험이 있는지 물어보면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오픈북 시험 비유가 가장 잘 통합니다. 똑똑한 학생(AI)에게 교과서(우리 자료)를 펼쳐 주는 것이 RAG입니다.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참석자들이 매일 하는 일과 똑같다는 점을 강조합니다. 다음 시간에는 실제 국민취업지원제도 매뉴얼로 이 과정을 그대로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그림이 오늘 수업의 핵심입니다. 실습 1은 ①번만, 실습 2는 ①②③ 전체를 해 봅니다. 마지막 정리 때 이 그림을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용어는 설명만 하고 넘어갑니다. 실습하면서 자연스럽게 익숙해집니다.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자르냐고 물으면: 긴 문서를 통째로 주는 것보다 필요한 부분만 골라 주는 편이 AI도 정확하고 비용도 적게 든다고 설명합니다. 출처를 붙여 두는 이유는 나중에 '어디서 찾았는지' 보여 주기 위해서입니다.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점수는 실습 1에서 실제로 나오는 값입니다. 점수 자체보다 '비슷한 글자가 많을수록 위로 온다'는 감각을 잡는 것이 목표입니다. 단점: '한 달에 얼마'처럼 자료와 다른 단어로 물으면 잘 못 찾습니다. 다음 시간에 이 문제를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2의 마지막 함정 질문에서 '모르면 모른다고 답하기'가 실제로 동작하는지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단계에서 가장 많이 막힙니다. 한 명씩 화면을 확인하며 진행하세요.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키는 강사가 console.anthropic.com에서 미리 발급하고, 사용 한도(월 예산)를 낮게 설정해 두는 것을 권장합니다. 키는 메신저 공개 채널이 아니라 개인 메시지로 전달하세요.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체크를 놓친 경우: 설치 파일을 다시 실행해 'Modify'가 아니라 제거 후 재설치하는 편이 가장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명령 프롬프트를 처음 보는 분이 많을 수 있습니다. '마우스 대신 글자로 컴퓨터에 부탁하는 창'이라고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폴더는 바탕화면에 두면 경로가 짧아 설명하기 쉽습니다. 파일 이름의 숫자는 실습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requirements.txt는 '장보기 목록'이고 pip는 '배달원'이라고 비유하면 좋습니다. 회사 보안 프로그램 때문에 설치가 막히면 전산 담당에게 pypi.org 접속 허용을 요청해야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키가 필요 없는 단계입니다. 검색이 잘 되어야 AI도 잘 답한다는 점을 체험합니다.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메모장으로 파일 하나를 열어 보여 주세요. 각 파일 맨 위에 '[가상 데이터]' 표시가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파일에는 입력을 받고 결과를 출력하는 코드가 조금 더 있습니다. '(2, 3)'은 두세 글자씩 쪼갠다는 뜻이라고만 설명하면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끝낼 때는 아무것도 입력하지 않고 엔터를 누르면 됩니다. 결과가 다르게 나오면 폴더 위치(cd)를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3명이 결과를 비교하게 하세요. 같은 질문이면 모두 같은 결과가 나옵니다(검색은 운이 아니라 계산). 단어를 바꾸면 순위가 바뀌는 것을 체험하는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키가 필요한 단계입니다. 키를 미리 전달해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키가 노출되면 console.anthropic.com에서 즉시 폐기하고 새로 발급하면 됩니다. 앱의 키 입력칸은 비밀번호처럼 가려져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RAG의 비밀은 사실 이것뿐입니다. '검색 결과를 편지에 붙여서 보낸다.' AI 모델 자체를 학습시키거나 바꾸지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파일에는 AI가 답을 거절한 경우의 처리와, 문제 발생 시 다른 모델로 자동 전환하는 설정(fallbacks)이 들어 있습니다. 비개발자에게는 '안전장치'라고만 설명하면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 실행 시 윈도우 방화벽 경고가 뜰 수 있습니다. '액세스 허용'을 누르면 됩니다(내 컴퓨터 안에서만 쓰는 주소입니다).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사람이 입력하고 두 사람이 채점하는 식으로 역할을 돌려도 좋습니다. AI 답의 표현은 매번 조금씩 다를 수 있지만 내용은 같아야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 매뉴얼 도우미에서는 이 원칙을 '팀장 확인 필요' 표시로 발전시킵니다.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메모장 '다른 이름으로 저장'에서 인코딩을 UTF-8로 해야 한글이 깨지지 않습니다. 캐시 지우기가 어렵다면 명령 프롬프트에서 Ctrl+C로 끄고 다시 streamlit run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지시문(프롬프트)만 바꿔도 결과가 크게 달라진다는 것을 체험하는 활동입니다. 망가지면 강사가 준 원본 파일로 되돌리면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남은 시간에 맞춰 조절하세요.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인쇄해서 나눠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처음에 보여 준 3단계 그림을 다시 보며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숙제로 받은 현장 질문은 다음 시간 평가 질문 세트로 활용하면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669280" cy="5669280"/>
          </a:xfrm>
          <a:prstGeom prst="ellipse">
            <a:avLst/>
          </a:prstGeom>
          <a:solidFill>
            <a:srgbClr val="1B99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566160"/>
            <a:ext cx="3291840" cy="3291840"/>
          </a:xfrm>
          <a:prstGeom prst="ellipse">
            <a:avLst/>
          </a:prstGeom>
          <a:solidFill>
            <a:srgbClr val="F4A259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23444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국제커리어 AI 실습 1교시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 RAG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회사 자료로 답하는 AI 만들기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931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경험이 없어도 괜찮습니다. 복사하고, 붙여넣고, 실행하면서 RAG를 직접 경험합니다.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국제커리어 직원 3명 · 소요 시간: 약 2시간 · 준비물: 윈도우 노트북, 인터넷, 강사가 나눠 준 실습 폴더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것: 사내 안내서를 찾아보고 답하는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 뒤, 여러분 노트북에서 이 화면이 돌아갑니다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B8C7C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18488"/>
            <a:ext cx="6729984" cy="347472"/>
          </a:xfrm>
          <a:prstGeom prst="rect">
            <a:avLst/>
          </a:prstGeom>
          <a:solidFill>
            <a:srgbClr val="EEF3F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719072"/>
            <a:ext cx="118872" cy="118872"/>
          </a:xfrm>
          <a:prstGeom prst="ellipse">
            <a:avLst/>
          </a:prstGeom>
          <a:solidFill>
            <a:srgbClr val="E06C5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19072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719072"/>
            <a:ext cx="118872" cy="118872"/>
          </a:xfrm>
          <a:prstGeom prst="ellipse">
            <a:avLst/>
          </a:prstGeom>
          <a:solidFill>
            <a:srgbClr val="5DBB63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673352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72768" y="16733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localhost:8501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48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 RAG · 국제커리어 사내 도우미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6217920" cy="457200"/>
          </a:xfrm>
          <a:prstGeom prst="roundRect">
            <a:avLst>
              <a:gd name="adj" fmla="val 12000"/>
            </a:avLst>
          </a:prstGeom>
          <a:solidFill>
            <a:srgbClr val="F3F6F6"/>
          </a:solidFill>
          <a:ln w="12700">
            <a:solidFill>
              <a:srgbClr val="D5E3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834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 예약은 어디서 하나요?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74720"/>
            <a:ext cx="6217920" cy="411480"/>
          </a:xfrm>
          <a:prstGeom prst="roundRect">
            <a:avLst>
              <a:gd name="adj" fmla="val 13333"/>
            </a:avLst>
          </a:prstGeom>
          <a:solidFill>
            <a:srgbClr val="F7F9F9"/>
          </a:solidFill>
          <a:ln w="12700">
            <a:solidFill>
              <a:srgbClr val="D5E3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474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🔍 검색된 자료 조각 보기 (AI가 참고한 내용)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6217920" cy="1417320"/>
          </a:xfrm>
          <a:prstGeom prst="roundRect">
            <a:avLst>
              <a:gd name="adj" fmla="val 3871"/>
            </a:avLst>
          </a:prstGeom>
          <a:solidFill>
            <a:srgbClr val="E7F5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2062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5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메신저의 "#상담실예약" 채널에서 예약합니다. 최대 2주 전부터 예약할 수 있고, 한 번에 최대 2시간까지 쓸 수 있습니다.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5B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(출처: 03_상담실이용.txt)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1600200"/>
            <a:ext cx="3867912" cy="1463040"/>
          </a:xfrm>
          <a:prstGeom prst="roundRect">
            <a:avLst>
              <a:gd name="adj" fmla="val 75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28432" y="185623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156" y="1980956"/>
            <a:ext cx="317480" cy="3174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759952" y="1856232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넣으면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028432" y="256032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평소 말투로 묻습니다.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772400" y="3246120"/>
            <a:ext cx="3867912" cy="1463040"/>
          </a:xfrm>
          <a:prstGeom prst="roundRect">
            <a:avLst>
              <a:gd name="adj" fmla="val 75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28432" y="35021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156" y="3626876"/>
            <a:ext cx="317480" cy="31748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759952" y="3502152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찾아서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8028432" y="420624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안내서에서 관련 부분을 찾습니다.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7772400" y="4892040"/>
            <a:ext cx="3867912" cy="1463040"/>
          </a:xfrm>
          <a:prstGeom prst="roundRect">
            <a:avLst>
              <a:gd name="adj" fmla="val 75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28432" y="514807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156" y="5272796"/>
            <a:ext cx="317480" cy="31748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759952" y="5148072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함께 답합니다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8028432" y="585216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파일을 함께 보여 줍니다.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순서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→ 설치 → 실습 1 → 실습 2 → 정리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58" y="196596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330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7860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개념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우리 자료로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답하는 원리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(20분)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rot="5400000">
            <a:off x="2543495" y="298094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173736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8637" y="196596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2084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59547" y="257860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986979" y="306324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(20분)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844674" y="298094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173736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39816" y="196596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2084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60726" y="257860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· 검색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288158" y="306324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없이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검색만 해 보기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(20분)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45853" y="298094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173736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FDF0E3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40995" y="1965960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867" y="208483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61905" y="257860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· AI 앱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589337" y="306324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+ AI 답변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앱 실행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(40분)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 rot="5400000">
            <a:off x="9447032" y="298094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173736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442174" y="196596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046" y="208483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63084" y="257860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890516" y="306324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해결,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예고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(20분)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548640" y="502920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6F4F1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25780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325880" y="5120640"/>
            <a:ext cx="1013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막히면 바로 손을 들어 주세요. 3명이 함께 같은 화면을 보며 진행합니다.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RAG가 뭔가요?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기술 용어 없이, 상담 업무에 빗대어 이해합니다.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그냥 물어보면 어떻게 될까?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인터넷의 일반 지식은 알지만, 우리 회사 안내서는 본 적이 없습니다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266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01952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직원의 질문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06040"/>
            <a:ext cx="479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회사 상담실 예약은 어디서 해요?"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5303520" cy="2377440"/>
          </a:xfrm>
          <a:prstGeom prst="roundRect">
            <a:avLst>
              <a:gd name="adj" fmla="val 4615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" y="417551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36192" y="4050792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 (자료 없이)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04672" y="4754880"/>
            <a:ext cx="4791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"보통 회사에서는 그룹웨어의 회의실 예약 메뉴를 이용합니다..."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그럴듯하지만 우리 회사와 다릅니다.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17373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현상을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'환각'이라고 부릅니다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3108960"/>
            <a:ext cx="521208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모르는 것도 아는 것처럼 자연스럽게 말합니다.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답이 맞는 답과 똑같이 자신 있게 들립니다.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업무에서는 틀린 안내가 곧 민원이 됩니다.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B9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해결책: AI에게 우리 자료를 먼저 보여 주고 답하게 한다 → RAG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= AI에게 보는 '오픈북 시험'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Retrieval-Augmented Generation: 찾아보고(Retrieval) 보태서(Augmented) 답한다(Generation)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F4F5"/>
          </a:solidFill>
          <a:ln w="12700">
            <a:solidFill>
              <a:srgbClr val="F1F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5B6B7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79192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AI = 암기 시험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182112"/>
            <a:ext cx="488289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머릿속 기억만으로 답합니다.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기억에 없는 내용은 비슷한 것으로 채웁니다.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근거를 보여 줄 수 없습니다.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47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8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01384" y="2679192"/>
            <a:ext cx="4882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= 오픈북 시험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3182112"/>
            <a:ext cx="488289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문제(질문)를 받으면, 먼저 책(우리 자료)에서 관련 페이지를 찾습니다.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페이지를 펼쳐 놓고 답을 씁니다.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"몇 쪽을 보고 썼다"고 출처를 댈 수 있습니다.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상담사에 빗대면 더 쉽습니다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상담사가 매뉴얼을 펼쳐 놓고 답하는 모습과 같습니다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4994" cy="265176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5105" y="196596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977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7860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 질문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21906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"수당 받을 수 있어요?"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 rot="5400000">
            <a:off x="3118790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737360"/>
            <a:ext cx="2464994" cy="265176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01579" y="196596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451" y="2084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4842" y="257860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찾기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62274" y="3063240"/>
            <a:ext cx="21906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쪽을 펼친다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검색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 rot="5400000">
            <a:off x="5995264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737360"/>
            <a:ext cx="2464994" cy="2651760"/>
          </a:xfrm>
          <a:prstGeom prst="roundRect">
            <a:avLst>
              <a:gd name="adj" fmla="val 4451"/>
            </a:avLst>
          </a:prstGeom>
          <a:solidFill>
            <a:srgbClr val="FDF0E3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78053" y="1965960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25" y="2084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11316" y="257860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정리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38748" y="3063240"/>
            <a:ext cx="21906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내용을 보며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풀어 설명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AI 답변 생성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 rot="5400000">
            <a:off x="8871737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737360"/>
            <a:ext cx="2464994" cy="265176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54526" y="196596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3398" y="208483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7789" y="257860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안내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315221" y="3063240"/>
            <a:ext cx="21906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"매뉴얼 ○쪽 기준으로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말씀드리면..."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출처 표시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48920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16636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25880" y="498348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AI에게 '매뉴얼을 찾아보고 답하는 습관'을 만들어 주는 방법입니다.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딱 3단계입니다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앱도 이 3단계를 그대로 코드로 옮긴 것입니다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19272" cy="3017520"/>
          </a:xfrm>
          <a:prstGeom prst="roundRect">
            <a:avLst>
              <a:gd name="adj" fmla="val 4242"/>
            </a:avLst>
          </a:prstGeom>
          <a:solidFill>
            <a:srgbClr val="E6F4F1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1076" y="2103120"/>
            <a:ext cx="914400" cy="914400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00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검색 (찾기)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4904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비슷한 자료 조각을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안내서에서 3개 찾는다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rot="5400000">
            <a:off x="4050792" y="3200400"/>
            <a:ext cx="274320" cy="329184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4434840" y="1828800"/>
            <a:ext cx="3319272" cy="3017520"/>
          </a:xfrm>
          <a:prstGeom prst="roundRect">
            <a:avLst>
              <a:gd name="adj" fmla="val 4242"/>
            </a:avLst>
          </a:prstGeom>
          <a:solidFill>
            <a:srgbClr val="E6F4F1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331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200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전달 (보여 주기)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74904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편지를 보낸다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"아래 자료만 보고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질문에 답해 줘"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 rot="5400000">
            <a:off x="7936992" y="3200400"/>
            <a:ext cx="274320" cy="329184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1828800"/>
            <a:ext cx="3319272" cy="3017520"/>
          </a:xfrm>
          <a:prstGeom prst="roundRect">
            <a:avLst>
              <a:gd name="adj" fmla="val 4242"/>
            </a:avLst>
          </a:prstGeom>
          <a:solidFill>
            <a:srgbClr val="FDF0E3"/>
          </a:solidFill>
          <a:ln w="19050">
            <a:solidFill>
              <a:srgbClr val="F4A25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23476" y="2103120"/>
            <a:ext cx="914400" cy="914400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6" y="23317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32004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생성 (답하기)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374904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자료를 읽고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답과 출처를 쓴다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"상담실 예약은 어디서 하나요?"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03_상담실이용.txt 조각을 찾아 → AI에게 전달 → "#상담실예약 채널에서 합니다 (출처: 03_상담실이용.txt)"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나오는 용어 5개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외울 필요는 없습니다. 막히면 이 쪽으로 돌아오세요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737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쉬운 뜻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실습에서는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조각 (chunk)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문서를 잘라 만든 작은 카드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안내서를 빈 줄 기준으로 잘라 44개 조각을 만듭니다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(retrieval)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질문과 가장 비슷한 조각 고르기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질문과 글자가 많이 겹치는 조각 3개를 고릅니다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(prompt)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보내는 지시문과 질문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"자료에 있는 내용만으로 답하라"는 지시를 씁니다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(model)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답을 만들어 내는 AI 두뇌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Anthropic의 Claude를 씁니다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AI를 쓸 수 있는 회사 출입증 겸 결제 카드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강사가 나눠 준 키를 화면에 붙여넣습니다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조각 만들기: 문서를 카드로 자릅니다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줄이 나올 때마다 잘라서, 카드마다 '어느 파일에서 왔는지' 적어 둡니다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3F6F6"/>
          </a:solidFill>
          <a:ln w="12700">
            <a:solidFill>
              <a:srgbClr val="F3F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266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01952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03_상담실이용.txt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06040"/>
            <a:ext cx="369417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상담실은 7층에 A, B, C 세 곳이 있습니다...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상담실은 사내 메신저의 "#상담실예약" 채널에서 예약합니다...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예약을 취소할 때는 사용 시작 1시간 전까지...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상담이 끝나면 책상 위 서류를 모두 치우고...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 rot="5400000">
            <a:off x="4983480" y="3657600"/>
            <a:ext cx="365760" cy="457200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5760720" y="1645920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1 · 출처 03_상담실이용.txt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2057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상담실은 7층에 A, B, C 세 곳이 있습니다...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2788920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2 · 출처 03_상담실이용.txt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200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상담실은 사내 메신저의 "#상담실예약" 채널에서 예약합니다...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60720" y="3931920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3 · 출처 03_상담실이용.txt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4343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예약을 취소할 때는 사용 시작 1시간 전까지...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760720" y="5074920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4 · 출처 03_상담실이용.txt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0" y="5486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상담이 끝나면 책상 위 서류를 모두 치우고...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검색은 어떻게 할까? '겹치는 글자' 세기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조각이 같은 글자 묶음을 많이 가질수록 점수가 높습니다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9050">
            <a:solidFill>
              <a:srgbClr val="F4A2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 예약은 어디서 하나요?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두세 글자씩 쪼개면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520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36192" y="352044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36192" y="3520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23744" y="352044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23744" y="3520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11296" y="352044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11296" y="3520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98848" y="3520440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8848" y="3520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글자 묶음이 많이 나오는 조각일수록 1위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103120"/>
          <a:ext cx="57881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42336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찾은 조각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상담실은 사내 메신저의 "#상담실예약" 채널에서 예약합니다...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 상담실 이용 안내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예약을 취소할 때는 사용 시작 1시간 전까지...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852160" y="4663440"/>
            <a:ext cx="5788152" cy="1097280"/>
          </a:xfrm>
          <a:prstGeom prst="roundRect">
            <a:avLst>
              <a:gd name="adj" fmla="val 8333"/>
            </a:avLst>
          </a:prstGeom>
          <a:solidFill>
            <a:srgbClr val="E6F4F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502920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629400" y="475488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실행 결과입니다. 이 방식의 이름은 TF-IDF지만, '겹치는 글자 세기'로 기억하면 충분합니다.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답할 때 출처를 꼭 붙이는 이유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답은 '초안'입니다. 사람이 확인할 수 있어야 믿고 쓸 수 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수 있다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182112"/>
            <a:ext cx="300837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파일을 열어 AI의 답이 맞는지 직접 확인합니다.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0288" y="1947672"/>
            <a:ext cx="566928" cy="566928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012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0288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모르면 모른다고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90288" y="3182112"/>
            <a:ext cx="300837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자료에 없으면 "찾을 수 없습니다"라고 답하게 합니다. 지어내지 않게 하는 장치입니다.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194767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628" y="207239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75904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사람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75904" y="3182112"/>
            <a:ext cx="300837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찾아 주고 정리해 주면, 판단과 안내는 담당자가 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준비하기: 설치 20분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Python과 도구 3개를 설치합니다. 한 번만 하면 됩니다.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확인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 전에 4가지를 확인하세요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윈도우 노트북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5176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10 또는 11. 인터넷에 연결되어 있어야 합니다.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47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8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2904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 hello_rag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65176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나눠 준 폴더를 바탕화면에 복사합니다.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431267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36192" y="418795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 키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48920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따로 전달합니다. 'sk-ant-'로 시작하는 긴 글자입니다. 다른 사람과 공유하지 마세요.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45352" y="39319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01384" y="4187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08" y="4312676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2904" y="418795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501384" y="4892040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쪽에서 설치합니다. 이미 있다면 버전만 확인합니다.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설치하기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= 오늘 만든 코드를 실행해 주는 프로그램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7335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브라우저에서 python.org/downloads 접속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075688"/>
            <a:ext cx="5806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노란색 'Download Python 3.12.x' 버튼을 누릅니다 (3.10 이상이면 됩니다)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9748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내려받은 설치 파일 실행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9816"/>
            <a:ext cx="5806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폴더의 python-3.12.x-amd64.exe 를 더블클릭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2160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아래 'Add python.exe to PATH' 반드시 체크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123944"/>
            <a:ext cx="5806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이것을 빼먹으면 뒤에서 python 명령이 인식되지 않습니다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64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4573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'Install Now' 클릭 → 설치 완료 후 'Close'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148072"/>
            <a:ext cx="5806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권한을 물으면 '예'를 누릅니다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1691640"/>
            <a:ext cx="4142232" cy="4206240"/>
          </a:xfrm>
          <a:prstGeom prst="roundRect">
            <a:avLst>
              <a:gd name="adj" fmla="val 2208"/>
            </a:avLst>
          </a:prstGeom>
          <a:solidFill>
            <a:srgbClr val="F3F6F6"/>
          </a:solidFill>
          <a:ln w="12700">
            <a:solidFill>
              <a:srgbClr val="D5E3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26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화면 맨 아래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26680" y="2377440"/>
            <a:ext cx="36850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Use admin privileges when installing py.exe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3291840"/>
            <a:ext cx="3685032" cy="822960"/>
          </a:xfrm>
          <a:prstGeom prst="rect">
            <a:avLst/>
          </a:prstGeom>
          <a:solidFill>
            <a:srgbClr val="FDF0E3"/>
          </a:solidFill>
          <a:ln w="31750">
            <a:solidFill>
              <a:srgbClr val="F4A2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  Add python.exe to PATH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42519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여기를 꼭 체크!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 열고 설치 확인하기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 = 컴퓨터에 글자로 명령을 내리는 검은 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190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키보드에서 윈도우 키 + R 을 누릅니다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214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'실행' 창이 뜹니다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16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 라고 입력하고 엔터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186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창(명령 프롬프트)이 열립니다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9136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--version 입력 후 엔터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1596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오른쪽처럼 버전이 나오면 성공입니다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422392" cy="2743200"/>
          </a:xfrm>
          <a:prstGeom prst="roundRect">
            <a:avLst>
              <a:gd name="adj" fmla="val 3333"/>
            </a:avLst>
          </a:prstGeom>
          <a:solidFill>
            <a:srgbClr val="1E2A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84708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148840"/>
            <a:ext cx="4965192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D2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python --version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3.12.10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'python'은(는) 내부 또는 외부 명령...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이라고 나오면 → PATH 체크를 빠뜨린 것입니다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앞 쪽으로 돌아가 다시 설치하세요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8066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512064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교안에서 '&gt;' 로 시작하는 줄은 여러분이 입력하는 명령입니다. '&gt;' 는 입력하지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 둘러보기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바탕화면\hello_rag 폴더 안에 이렇게 들어 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589520" cy="4480560"/>
          </a:xfrm>
          <a:prstGeom prst="roundRect">
            <a:avLst>
              <a:gd name="adj" fmla="val 2041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7132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hello_rag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                    ← AI가 참고할 자료 (가상의 사내 안내서)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01_회사소개.txt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02_근무규정.txt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03_상담실이용.txt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04_신규상담사_온보딩.txt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05_상담일지_작성.txt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06_자주묻는질문.txt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1_search.py             ← 실습 1: 검색만 해 보기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2_app.py                ← 실습 2: 검색 + AI 답변 웹 앱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requirements.txt        ← 설치할 도구 목록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테스트질문.txt           ← 실습용 질문과 정답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66760" y="1645920"/>
            <a:ext cx="3273552" cy="4480560"/>
          </a:xfrm>
          <a:prstGeom prst="roundRect">
            <a:avLst>
              <a:gd name="adj" fmla="val 3352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2792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7516" y="2026676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22792" y="263347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 두세요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22792" y="3136392"/>
            <a:ext cx="2761488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폴더의 자료는 실습용으로 만든 가상 자료입니다. 실제 회사 규정과 다릅니다.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.py 파일은 메모장으로 열어 볼 수 있습니다. 오늘은 고치지 않고 그대로 실행합니다.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폴더에서 도구 3개 설치하기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주소창에 cmd 라고 치면, 그 폴더에서 명령 프롬프트가 열립니다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73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탐색기에서 hello_rag 폴더를 엽니다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334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 주소창을 클릭 → cmd 입력 → 엔터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358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폴더 위치에서 명령 프롬프트가 열립니다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5935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명령을 입력하고 1~3분 기다립니다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Successfully installed ... 가 나오면 성공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1E2A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681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83480"/>
            <a:ext cx="5029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D2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pip install -r requirements.txt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Successfully installed anthropic-... scikit-learn-... streamlit-...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395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0215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설치되는 도구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streamlit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화면(입력 칸, 버튼)을 쉽게 만들어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scikit-learn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'겹치는 글자 세기' 검색을 계산해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AI와 연결해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1: 검색만 해 보기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없이, RAG의 첫 단계인 '찾기'가 어떻게 동작하는지 눈으로 확인합니다.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참고할 자료: 가상의 사내 안내서 6개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확인하기 쉽도록 구체적인 숫자와 규칙을 넣어 두었습니다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 있는 내용 (예시)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01_회사소개.txt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시간, 팀 구성 (상담1팀 = 청년 15~34세 담당)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02_근무규정.txt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시차 출근, 재택근무(입사 6개월 후, 주 1일), 연차 신청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03_상담실이용.txt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#상담실예약 채널, 최대 2주 전 예약, 2시간 사용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04_신규상담사_온보딩.txt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4주 과정, 참관 10건, 동석 상담 5건, 멘토 배정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05_상담일지_작성.txt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18시까지 작성, 17시 이후 상담은 다음 날 11시까지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06_자주묻는질문.txt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비밀번호, 프린터, 명함, 출장비(식비 하루 2만 원)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1_search.py 들여다보기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이해할 필요는 없습니다. ①②③ 세 덩어리만 보세요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1_search.py (핵심만 발췌)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704088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자료 읽기: data 폴더의 .txt 파일을 빈 줄 기준으로 잘라 "조각"으로 만든다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path in sorted(glob.glob("data/*.txt")):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open(path, encoding="utf-8").read()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part in text.split("\n\n"):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chunks.append({"source": 파일이름, "text": part})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색인 만들기: 조각마다 글자 패턴을 숫자로 바꿔 둔다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vectorizer = TfidfVectorizer(analyzer="char_wb", ngram_range=(2, 3))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vectorizer.fit_transform(조각들의 글)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검색하기: 질문과 가장 비슷한 조각 3개를 찾는다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cosine_similarity(vectorizer.transform([question]), matrix)[0]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= scores.argsort()[::-1][:3]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75320" y="160020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31352" y="18288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자료 읽기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31352" y="2359152"/>
            <a:ext cx="2852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열어 빈 줄마다 자른다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320040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31352" y="34290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색인 만들기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31352" y="3959352"/>
            <a:ext cx="2852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묶음을 숫자로 바꿔 둔다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75320" y="4800600"/>
            <a:ext cx="3364992" cy="1371600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31352" y="502920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검색하기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2" y="5559552"/>
            <a:ext cx="2852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높은 조각 3개를 고른다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 보기: python 1_search.py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hello_rag 폴더에서 연 명령 프롬프트에 입력합니다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680960" cy="4572000"/>
          </a:xfrm>
          <a:prstGeom prst="roundRect">
            <a:avLst>
              <a:gd name="adj" fmla="val 2000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 (실제 실행 결과)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722376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D2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python 1_search.py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자료 조각 44개를 읽었습니다.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질문을 입력하세요 (끝내려면 엔터): 오후 5시 30분에 끝난 상담의 일지는 언제까지?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[1위] 점수 0.38 · 출처 05_상담일지_작성.txt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모든 상담은 상담 당일 오후 6시까지 상담일지를 작성해야 합니다.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오후 5시 이후에 끝난 상담은 다음 날 오전 11시까지 작성해도 됩니다.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[2위] 점수 0.17 · 출처 04_신규상담사_온보딩.txt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4주차에는 혼자 상담을 시작하고, 매일 오후 5시에 멘토와 ...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[3위] 점수 0.14 · 출처 01_회사소개.txt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 시간은 평일 오전 9시부터 오후 6시까지입니다. ...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58200" y="1600200"/>
            <a:ext cx="3182112" cy="1737360"/>
          </a:xfrm>
          <a:prstGeom prst="roundRect">
            <a:avLst>
              <a:gd name="adj" fmla="val 5263"/>
            </a:avLst>
          </a:prstGeom>
          <a:solidFill>
            <a:srgbClr val="E7F5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235440" y="1691640"/>
            <a:ext cx="2221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조각에 정답(다음 날 오전 11시)이 들어 있습니다. 검색 성공!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458200" y="3520440"/>
            <a:ext cx="3182112" cy="2651760"/>
          </a:xfrm>
          <a:prstGeom prst="roundRect">
            <a:avLst>
              <a:gd name="adj" fmla="val 3448"/>
            </a:avLst>
          </a:prstGeom>
          <a:solidFill>
            <a:srgbClr val="FDF0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663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235440" y="3611880"/>
            <a:ext cx="2221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2·3위는 '오후 5시', '오후 6시' 글자가 겹쳐서 올라온 조각입니다. 검색은 뜻이 아니라 글자를 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미션 1: 검색 결과 채점하기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테스트질문.txt의 질문 3개를 넣고, 1위 조각에 정답이 있는지 확인하세요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474720"/>
                <a:gridCol w="249631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정답이 들어 있어야 할 파일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1위에 정답? (O/X)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상담실 예약은 어디서 하나요?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03_상담실이용.txt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입사 3개월 차인데 재택근무를 할 수 있나요?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02_근무규정.txt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출장 식비는 하루에 얼마까지 나오나요?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06_자주묻는질문.txt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(자유) 내가 만든 질문: 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721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521208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생각해 보기: 1위가 틀린 질문이 있었다면, 질문을 어떤 단어로 바꾸면 잘 찾을까요?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2: AI 답변 앱 만들기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검색한 조각을 Claude에게 보내 답을 받는 웹 앱을 실행합니다.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= AI 출입증 겸 법인카드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키를 가진 사람은 누구나 우리 회사 계정으로 AI를 쓸 수 있습니다 (비용 발생)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하세요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51760"/>
            <a:ext cx="488289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개인 메시지로 준 키를 복사합니다.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왼쪽의 'Claude API 키' 칸에 붙여넣습니다.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실습이 끝나면 강사가 키를 폐기합니다.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47672"/>
            <a:ext cx="566928" cy="566928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8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2904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하지 마세요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651760"/>
            <a:ext cx="488289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채팅방, 이메일, 문서에 키를 붙여넣기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파일 안에 키를 적어 두고 공유하기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공유 중에 키를 보이게 두기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보내는 '편지'는 이렇게 생겼습니다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검색으로 찾은 조각을 질문과 함께 넣어 보냅니다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4526280"/>
          </a:xfrm>
          <a:prstGeom prst="roundRect">
            <a:avLst>
              <a:gd name="adj" fmla="val 2424"/>
            </a:avLst>
          </a:prstGeom>
          <a:solidFill>
            <a:srgbClr val="FBFCFC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(시스템 프롬프트)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아래 [참고 자료]에 있는 내용만으로 답하세요. 자료에 답이 없으면 "자료에서 찾을 수 없습니다"라고 답하세요. 답변 끝에 (출처: 파일이름)을 적으세요.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6400800" cy="0"/>
          </a:xfrm>
          <a:prstGeom prst="line">
            <a:avLst/>
          </a:prstGeom>
          <a:noFill/>
          <a:ln w="12700">
            <a:solidFill>
              <a:srgbClr val="D5E3E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[참고 자료] ← ①검색 결과가 여기로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[03_상담실이용.txt] 상담실은 사내 메신저의 "#상담실예약" 채널에서 예약합니다...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[03_상담실이용.txt] 예약을 취소할 때는 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6400800" cy="0"/>
          </a:xfrm>
          <a:prstGeom prst="line">
            <a:avLst/>
          </a:prstGeom>
          <a:noFill/>
          <a:ln w="12700">
            <a:solidFill>
              <a:srgbClr val="D5E3E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4800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[질문]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상담실 예약은 어디서 하나요?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18120" y="1645920"/>
            <a:ext cx="3822192" cy="2148840"/>
          </a:xfrm>
          <a:prstGeom prst="roundRect">
            <a:avLst>
              <a:gd name="adj" fmla="val 5106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152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8876" y="2026676"/>
            <a:ext cx="317480" cy="317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805672" y="190195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② 전달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074152" y="260604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이 편지 한 장만 보고 답합니다. 자료 전체를 아는 것이 아닙니다.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818120" y="4023360"/>
            <a:ext cx="3822192" cy="2148840"/>
          </a:xfrm>
          <a:prstGeom prst="roundRect">
            <a:avLst>
              <a:gd name="adj" fmla="val 510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74152" y="427939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876" y="4404116"/>
            <a:ext cx="317480" cy="3174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805672" y="427939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지시문이 중요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074152" y="4983480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한 줄로 AI의 태도가 바뀝니다. 실습 마지막에 직접 바꿔 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2_app.py는 실습 1 코드에 두 덩어리를 더한 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①②③ 검색은 그대로, ④ AI에게 묻기와 ⑤ 화면이 추가됩니다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589520" cy="4572000"/>
          </a:xfrm>
          <a:prstGeom prst="roundRect">
            <a:avLst>
              <a:gd name="adj" fmla="val 2000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2_app.py (핵심만 발췌)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713232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AI에게 묻기: 찾은 조각을 질문과 함께 보낸다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ask_claude(api_key, question, found):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찾은 조각들을 [파일이름] + 내용 으로 이어 붙임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anthropic.Anthropic(api_key=api_key)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client.beta.messages.create(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model="claude-opus-5-5",          # 사용할 AI 모델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output_config={"effort": "low"},  # 짧게 생각하고 빨리 답하기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system=SYSTEM_PROMPT,              # 지시문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messages=[{"role": "user",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"content": 참고 자료 + 질문}],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AI가 쓴 답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⑤ 화면: 제목, 키 입력칸, 질문 입력칸, 결과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st.title("hello RAG · 국제커리어 사내 도우미")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= st.text_input("질문을 입력하세요")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366760" y="1600200"/>
            <a:ext cx="3273552" cy="2194560"/>
          </a:xfrm>
          <a:prstGeom prst="roundRect">
            <a:avLst>
              <a:gd name="adj" fmla="val 5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22792" y="18288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AI에게 묻기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22792" y="2359152"/>
            <a:ext cx="27614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편지(지시문 + 자료 + 질문)를 Claude에게 보내고 답을 받습니다.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66760" y="3977640"/>
            <a:ext cx="3273552" cy="219456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22792" y="420624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화면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22792" y="4736592"/>
            <a:ext cx="27614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streamlit이 입력 칸과 결과 상자를 웹 페이지로 그려 줍니다.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 보기: streamlit run 2_app.py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브라우저가 자동으로 열립니다. 안 열리면 주소창에 localhost:8501 입력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3017520"/>
          </a:xfrm>
          <a:prstGeom prst="roundRect">
            <a:avLst>
              <a:gd name="adj" fmla="val 3030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521208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D2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streamlit run 2_app.py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 can now view your Streamlit app in your browser.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 URL: http://localhost:8501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처음 실행할 때 이메일을 물으면 그냥 엔터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앱을 끄려면 명령 프롬프트에서 Ctrl + 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29400" y="173736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71907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칸에 API 키 붙여넣기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121408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 + V 로 붙여넣고 엔터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29400" y="288036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86207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칸에 질문 입력 후 엔터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264408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3~10초 뒤 초록색 상자에 답이 나옵니다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29400" y="402336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00507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'검색된 자료 조각 보기'를 펼쳐 보기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407408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어떤 조각을 보고 답했는지 확인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8066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512064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 창을 닫으면 앱도 꺼집니다. 실습하는 동안 창을 열어 두세요.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미션 2: AI 답변 채점하기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테스트질문.txt의 7개 질문을 넣고, 답과 출처가 맞는지 표시하세요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120640"/>
                <a:gridCol w="3017520"/>
                <a:gridCol w="1234440"/>
                <a:gridCol w="12618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 O/X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O/X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상담실 예약은 어디서 하나요?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#상담실예약 채널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오후 5시 30분에 끝난 상담 일지는 언제까지?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날 오전 11시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입사 3개월 차인데 재택근무 가능?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 (6개월 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상담사 동석 상담은 몇 건?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5건 (3주차)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출장 식비는 하루 얼마까지?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2만 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청년 구직자는 어느 팀 담당?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상담1팀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창립기념일은 언제인가요? (함정)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자료에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질문이 알려 주는 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자료에 없는 내용을 물었을 때, AI가 지어내지 않는지 확인했습니다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성공한 답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51760"/>
            <a:ext cx="48828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"자료에서 찾을 수 없습니다."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지시문의 '자료에 없으면 모른다고 답하라'가 동작했습니다.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47672"/>
            <a:ext cx="566928" cy="566928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8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2904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답 (예시)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651760"/>
            <a:ext cx="48828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"창립기념일은 3월 15일입니다."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근거 없는 답. 지시문을 더 분명하게 고쳐야 합니다.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0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57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5029200"/>
            <a:ext cx="10134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쓰는 AI의 가장 중요한 능력은 '많이 아는 것'보다 '모르는 것을 모른다고 말하는 것'입니다.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바꿔 보기 ①: 자료를 한 개 추가하기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그대로 두고 자료만 늘려도 AI가 새 내용을 답합니다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733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메모장을 열고 오른쪽 내용을 입력합니다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075688"/>
            <a:ext cx="5257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줄로 문단을 나눠 주세요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974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폴더에 07_구내식당.txt 로 저장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99816"/>
            <a:ext cx="5257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저장할 때 인코딩을 'UTF-8'로 선택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216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화면 오른쪽 위 ⋮ 메뉴 → Clear cache → 새로고침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123944"/>
            <a:ext cx="5257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자료를 다시 읽습니다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64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4573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"구내식당 점심은 몇 시부터예요?" 라고 질문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148072"/>
            <a:ext cx="5257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07_구내식당.txt 로 나오면 성공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1691640"/>
            <a:ext cx="4919472" cy="4206240"/>
          </a:xfrm>
          <a:prstGeom prst="roundRect">
            <a:avLst>
              <a:gd name="adj" fmla="val 2174"/>
            </a:avLst>
          </a:prstGeom>
          <a:solidFill>
            <a:srgbClr val="1E2A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180136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07_구내식당.txt (메모장에 입력)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103120"/>
            <a:ext cx="4462272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[가상 데이터] 실습용 추가 자료입니다.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구내식당 안내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구내식당은 3층에 있습니다. 점심은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오전 11시 30분부터 오후 1시 30분까지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운영합니다.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식권은 1장에 5,000원이며, 커리어워크의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'총무 신청' 메뉴에서 10장 단위로 삽니다.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바꿔 보기 ②: 지시문 한 줄 바꾸기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2_app.py를 메모장으로 열어 SYSTEM_PROMPT의 마지막 줄을 고쳐 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3840480"/>
          </a:xfrm>
          <a:prstGeom prst="roundRect">
            <a:avLst>
              <a:gd name="adj" fmla="val 2381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2_app.py 안의 SYSTEM_PROMPT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649224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원래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답변은 한국어로, 3문장 이내로 짧게 하세요.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바꿔 보기 A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답변은 신입 직원도 이해하도록 번호를 붙여 단계별로 설명하세요.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바꿔 보기 B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답변 첫 줄에 한 문장 요약을 쓰고, 이어서 자세히 설명하세요.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1645920"/>
            <a:ext cx="3822192" cy="3840480"/>
          </a:xfrm>
          <a:prstGeom prst="roundRect">
            <a:avLst>
              <a:gd name="adj" fmla="val 2871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74152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8876" y="2026676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805672" y="190195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확인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2606040"/>
            <a:ext cx="33101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메모장에서 저장(Ctrl + S)하면 앱 화면 위쪽에 'Rerun' 버튼이 뜹니다. 누르고 같은 질문을 다시 해 보세요.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모양이 어떻게 달라졌나요?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566928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BEA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8293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5880" y="576072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따옴표(""")와 들여쓰기는 건드리지 말고, 문장만 바꾸세요.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만나는 오류와 오늘 배운 것, 그리고 다음 시간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만나는 오류와 해결 방법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메시지의 앞부분만 보면 대부분 원인을 알 수 있습니다</a:t>
            </a:r>
            <a:endParaRPr lang="en-US" sz="1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59359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 나온 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'python'은(는) 내부 또는 외부 명령...이 아닙니다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설치할 때 PATH 체크를 빠뜨림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Python을 지우고 PATH 체크 후 재설치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 module named 'streamlit' (또는 sklearn, anthropic)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설치를 안 했거나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hello_rag 폴더에서 pip install -r requirements.txt 다시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can't open file '...1_search.py'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폴더에서 명령을 실행함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hello_rag 폴더 주소창에 cmd 입력해서 다시 열기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AuthenticationError / 401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키가 틀렸거나 앞뒤에 공백이 붙음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다시 복사해 붙여넣기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RateLimitError / 429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시간에 너무 많이 요청함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1분 뒤 다시 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한글이 깨져 나옴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자료 파일이 UTF-8이 아님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메모장에서 UTF-8로 다시 저장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= 찾아보고, 보여 주고, 답한다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4517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389" y="2039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328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검색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겹치는 글자가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 조각 3개를 찾았다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(1_search.py)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 rot="5400000">
            <a:off x="4077614" y="288950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16916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39816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688" y="2039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93666" y="25328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전달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21098" y="30175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+ 자료 + 질문을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편지로 묶어 보냈다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 rot="5400000">
            <a:off x="7912913" y="288950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16916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FDF0E3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75114" y="1920240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986" y="2039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8965" y="25328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생성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30175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자료를 근거로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답과 출처를 썼다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(2_app.py)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663440"/>
            <a:ext cx="11094415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틀리면 AI도 틀린다 → 좋은 자료와 좋은 검색이 먼저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한 줄이 AI의 태도를 바꾼다 → '모르면 모른다고'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답은 초안, 확인과 판단은 사람이 → 그래서 출처가 필요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시간: 진짜 업무매뉴얼로 상담 도우미 만들기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hello RAG를 국민취업지원제도 업무매뉴얼(2026.1)에 그대로 적용합니다</a:t>
            </a:r>
            <a:endParaRPr lang="en-US" sz="15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737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(hello RAG)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시간 (매뉴얼 RAG)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안내서 txt 6개 (44조각)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업무매뉴얼 한글 파일 1개 (7개 Part, 244조각)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표시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이름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&gt; 장 &gt; 절 위치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그대로 검색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질문을 매뉴얼 용어로 바꿔서 검색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1칸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 Q&amp;A + 수급자격 판정 가이드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721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521208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숙제(선택): 상담하면서 매뉴얼을 찾아봤던 질문 3개를 적어 오세요. 다음 시간 실습 질문으로 씁니다.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RAG 실습 교안</dc:title>
  <dc:subject>PptxGenJS Presentation</dc:subject>
  <dc:creator>국제커리어</dc:creator>
  <cp:lastModifiedBy>국제커리어</cp:lastModifiedBy>
  <cp:revision>1</cp:revision>
  <dcterms:created xsi:type="dcterms:W3CDTF">2026-09-30T15:35:41Z</dcterms:created>
  <dcterms:modified xsi:type="dcterms:W3CDTF">2026-09-30T15:35:41Z</dcterms:modified>
</cp:coreProperties>
</file>